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223232" y="1946238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CATEGORÍAS</a:t>
            </a:r>
            <a:r>
              <a:rPr lang="es" sz="921"/>
              <a:t> DE RIESGOS </a:t>
            </a:r>
            <a:endParaRPr sz="921"/>
          </a:p>
        </p:txBody>
      </p:sp>
      <p:sp>
        <p:nvSpPr>
          <p:cNvPr id="55" name="Google Shape;55;p13"/>
          <p:cNvSpPr/>
          <p:nvPr/>
        </p:nvSpPr>
        <p:spPr>
          <a:xfrm>
            <a:off x="4223225" y="3538013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RECURSOS</a:t>
            </a:r>
            <a:endParaRPr sz="921"/>
          </a:p>
        </p:txBody>
      </p:sp>
      <p:sp>
        <p:nvSpPr>
          <p:cNvPr id="56" name="Google Shape;56;p13"/>
          <p:cNvSpPr/>
          <p:nvPr/>
        </p:nvSpPr>
        <p:spPr>
          <a:xfrm>
            <a:off x="5905563" y="2742601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FUNCIONALES</a:t>
            </a:r>
            <a:endParaRPr sz="921"/>
          </a:p>
        </p:txBody>
      </p:sp>
      <p:sp>
        <p:nvSpPr>
          <p:cNvPr id="57" name="Google Shape;57;p13"/>
          <p:cNvSpPr/>
          <p:nvPr/>
        </p:nvSpPr>
        <p:spPr>
          <a:xfrm>
            <a:off x="2655916" y="2742600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ORGANIZACIONALES</a:t>
            </a:r>
            <a:endParaRPr sz="921"/>
          </a:p>
        </p:txBody>
      </p:sp>
      <p:sp>
        <p:nvSpPr>
          <p:cNvPr id="58" name="Google Shape;58;p13"/>
          <p:cNvSpPr/>
          <p:nvPr/>
        </p:nvSpPr>
        <p:spPr>
          <a:xfrm>
            <a:off x="4223228" y="404167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DIRECCIÓN</a:t>
            </a:r>
            <a:endParaRPr sz="921"/>
          </a:p>
        </p:txBody>
      </p:sp>
      <p:sp>
        <p:nvSpPr>
          <p:cNvPr id="59" name="Google Shape;59;p13"/>
          <p:cNvSpPr/>
          <p:nvPr/>
        </p:nvSpPr>
        <p:spPr>
          <a:xfrm>
            <a:off x="5905567" y="1153862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GERENCIA DE PROYECTO</a:t>
            </a:r>
            <a:endParaRPr sz="921"/>
          </a:p>
        </p:txBody>
      </p:sp>
      <p:sp>
        <p:nvSpPr>
          <p:cNvPr id="60" name="Google Shape;60;p13"/>
          <p:cNvSpPr/>
          <p:nvPr/>
        </p:nvSpPr>
        <p:spPr>
          <a:xfrm>
            <a:off x="2697375" y="1153852"/>
            <a:ext cx="1309500" cy="1251000"/>
          </a:xfrm>
          <a:prstGeom prst="ellipse">
            <a:avLst/>
          </a:prstGeom>
          <a:solidFill>
            <a:srgbClr val="FFF2CC"/>
          </a:solidFill>
          <a:ln cap="flat" cmpd="sng" w="76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21"/>
              <a:t>TÉCNICOS</a:t>
            </a:r>
            <a:endParaRPr sz="921"/>
          </a:p>
        </p:txBody>
      </p:sp>
      <p:sp>
        <p:nvSpPr>
          <p:cNvPr id="61" name="Google Shape;61;p13"/>
          <p:cNvSpPr txBox="1"/>
          <p:nvPr/>
        </p:nvSpPr>
        <p:spPr>
          <a:xfrm>
            <a:off x="5313500" y="4440775"/>
            <a:ext cx="35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Presupuesto mal definido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Cronograma con tiempo insuficiente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62" name="Google Shape;62;p13"/>
          <p:cNvCxnSpPr>
            <a:stCxn id="54" idx="4"/>
            <a:endCxn id="55" idx="0"/>
          </p:cNvCxnSpPr>
          <p:nvPr/>
        </p:nvCxnSpPr>
        <p:spPr>
          <a:xfrm>
            <a:off x="4877982" y="3197238"/>
            <a:ext cx="0" cy="3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stCxn id="54" idx="0"/>
            <a:endCxn id="58" idx="4"/>
          </p:cNvCxnSpPr>
          <p:nvPr/>
        </p:nvCxnSpPr>
        <p:spPr>
          <a:xfrm rot="10800000">
            <a:off x="4877982" y="1655238"/>
            <a:ext cx="0" cy="2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4" idx="5"/>
            <a:endCxn id="56" idx="2"/>
          </p:cNvCxnSpPr>
          <p:nvPr/>
        </p:nvCxnSpPr>
        <p:spPr>
          <a:xfrm>
            <a:off x="5340960" y="3014033"/>
            <a:ext cx="564600" cy="35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54" idx="3"/>
            <a:endCxn id="57" idx="6"/>
          </p:cNvCxnSpPr>
          <p:nvPr/>
        </p:nvCxnSpPr>
        <p:spPr>
          <a:xfrm flipH="1">
            <a:off x="3965304" y="3014033"/>
            <a:ext cx="449700" cy="35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54" idx="1"/>
            <a:endCxn id="60" idx="6"/>
          </p:cNvCxnSpPr>
          <p:nvPr/>
        </p:nvCxnSpPr>
        <p:spPr>
          <a:xfrm rot="10800000">
            <a:off x="4007004" y="1779342"/>
            <a:ext cx="40800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stCxn id="54" idx="7"/>
            <a:endCxn id="59" idx="2"/>
          </p:cNvCxnSpPr>
          <p:nvPr/>
        </p:nvCxnSpPr>
        <p:spPr>
          <a:xfrm flipH="1" rot="10800000">
            <a:off x="5340960" y="1779342"/>
            <a:ext cx="56460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7030425" y="942125"/>
            <a:ext cx="20457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Incumplimiento en la entrega del MVP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Falta de gestión de calidad en las entregas.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-111490" y="793350"/>
            <a:ext cx="2933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Daño en los equipos de los integrantes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Pérdida</a:t>
            </a:r>
            <a:r>
              <a:rPr lang="es" sz="1100">
                <a:solidFill>
                  <a:schemeClr val="dk1"/>
                </a:solidFill>
              </a:rPr>
              <a:t> de las copias de seguridad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7121650" y="3190650"/>
            <a:ext cx="204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Mala definición de las épicas.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Implementación de las funcionalidades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inadecuadas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8450" y="3993600"/>
            <a:ext cx="333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Falta de comunicación no se hacen reuniones ejecutivas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Cambio en las reglas de negocio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292700" y="181225"/>
            <a:ext cx="38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No acepten cambios en los presupuestos.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Suspensión por decisión de la dirección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